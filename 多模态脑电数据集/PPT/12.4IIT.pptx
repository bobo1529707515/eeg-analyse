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3" r:id="rId5"/>
    <p:sldId id="261" r:id="rId6"/>
    <p:sldId id="262" r:id="rId7"/>
    <p:sldId id="267" r:id="rId8"/>
    <p:sldId id="26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AA522-1204-4EA0-8C51-45956CFBABAD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18109-BE74-4355-A4F2-64ED2834A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262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MAIM——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缺失模态填充：用一个 模态专属的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Encoder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把现有的时间序列编码成潜在表示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Z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,Z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再通过一个 模态专属的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Decoder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从潜在空间重建信号。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这里有两个关键点：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1" i="0" dirty="0">
              <a:solidFill>
                <a:srgbClr val="24292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第一，用了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mask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矩阵，告诉网络哪个模态是缺失的；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第二，通过带均值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μ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、方差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σ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的小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MLP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，把不同模态的潜在表示拉到同一个隐空间里。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SMCCL——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跨模态分布对齐（多层次对比学习）个模态都会经过一个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Projector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映射到对比学习的空间；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绿色的箭头表示“应该靠近”的相似度：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第一层：同一个样本里，不同模态之间要接近；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第二层：同一类别、不同样本之间要接近；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第三层：还考虑到类别级别的分布，让整个类簇对齐。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黄色箭头表示要“排斥”的关系：不同类别之间要拉开距离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时间特征提取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上下文建模（真正做睡眠分期）每个模态（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EEG / EOG …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），先用一层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Temporal CNN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提取时间局部特征；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然后把多模态的特征在时间维度上拼在一起，得到一个融合后的序列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~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~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中间这块标着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MCTA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的模块，其实就是一个多尺度的时序注意力：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一方面考虑短时间内的局部模式（比如一个睡眠纺锤）；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另一方面考虑长时间的上下文，比如从上一阶段到下一阶段的过渡；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经过 </a:t>
            </a:r>
            <a:r>
              <a:rPr lang="en-US" altLang="zh-CN" b="1" i="0" dirty="0" err="1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LayerNorm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这些常规层之后，输出最后的特征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^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^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，接一个分类头，给出每个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30s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片段属于哪个睡眠阶段的概率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18109-BE74-4355-A4F2-64ED2834A5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1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54053-8EE0-47AA-8ADB-6F2728376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1F1A8D-D5AD-4B51-80D8-8CF013D07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9822B7-0426-4B29-AE6A-E7B75DDA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AB22C6-BEEE-4BC7-ADE5-1598556C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15A08-56B0-4A2E-96E7-3EEBE9CE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11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F6716-69D0-4231-9877-50BE04AE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9ABD36-D6E4-4CD8-AD16-AD3DA32A9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1DA285-9760-492F-9CCE-04CFB46B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AE8B28-611C-4680-8036-43544AA0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17224-4AFB-46BC-AA05-AA60B25ED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8118B-B13B-44DA-8FD9-2791D3A1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E1C238-0F9D-4A3B-BCAA-664860E4C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5EF72A-9365-48B4-A546-0E913D1AE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F1A8C-037D-441E-AE3E-73D2B2CA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21FD43-C0DE-48B6-AA4B-23F43348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76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EC6FA-8E5E-4243-BFD3-E499DBD28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3CE3E3-77FE-45BB-A9E9-041700911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13FB91-3E9A-4A39-92EE-AD67E88BC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C2E544-EF1A-42E4-918F-3C6809F8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E0FCD3-5222-4F0A-929B-BD5E1421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84026D-5401-47CF-8F2A-5C9911CC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63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58F15-E270-494E-AF63-416AA32D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13DE27-AB86-4EB2-8233-D2F3BB8C7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A97B4-7BF3-4A44-8477-1A4EF81A4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3528EF-308E-4FAD-9BEA-C8CA62980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BFB91A-E4B6-4D03-A04B-F8DC2CBE4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6D9497-C1B3-41CE-B1F0-528DB60A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52ACC9-1C34-40E4-9D95-C04FA3FE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03CB7A-B13A-4958-9A46-64F197FE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95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9E38E-E1D9-42F7-B429-6773EF53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ADDDA4-0748-428A-B151-0CFB220C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ADA522-0D46-49A9-94F1-5C485D8A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331230-2633-44A8-B090-B1F1CB0C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58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A1CBB6-59E2-4A94-8154-2EF3CE1E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3D5D5C-A021-4374-A009-D87E73C2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B186F0-ED8E-42EC-AD9D-306085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09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76BB8-608D-4687-B205-7B31F606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BD90E-E16A-4776-B4D3-A5BF6604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E584FA-F676-4688-83C0-366569F04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252A6D-FE87-4C2D-B821-52FEA6975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A4125-EA81-4AFE-AA13-EA36D84B8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50C6AA-81F4-44D8-A0D8-A1FB80EE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08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1934B-0830-4A88-B13E-63648712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9B4A44-8006-4527-9902-4E64383FA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DF2372-FBF7-4C93-85A0-6137D2A5F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1159AB-7535-4571-B1D9-1B69A004F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4C4DA4-CFAF-4F88-8D9E-4794A1FB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B34BF5-33D2-4E9E-AED6-21D3410E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47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C5A62-0B7A-42FD-88F8-F58C32B5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393CD4-13CD-4117-B579-E7852538F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7558CA-FAAC-4905-9FD3-39E96730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CFA40-960B-455C-A5EF-AD63F077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ADA05E-5315-43AA-B350-5D19BDD4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4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91EDA0-99D7-45D8-99DE-DF06802B3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B86FEF-113F-4C97-920D-A4C67C2B5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93C02-D1FE-4AA8-9F69-22D912FC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1C0B04-93D6-4B75-B48F-5318CD87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FA928D-30D1-42D0-AD3C-E3DA73FD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9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BB9CD0-81A1-4E47-8F4E-60458D93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6CF1D-9AF7-4425-9B87-9399EA190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ACD282-84F7-4FD5-BC0E-4A3667790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60202-FC32-42C0-A3A9-373AEE2BEA2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C229E1-8A08-42BE-9397-DF7F4804B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03F01C-00D9-4287-8959-075BCA0BE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AC0FE-2D1F-4D35-B67E-09BCE6C0A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73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hnob-db.eu/hci-tagging/media/uploads/manual.pdf?utm_source=chatgpt.com" TargetMode="External"/><Relationship Id="rId2" Type="http://schemas.openxmlformats.org/officeDocument/2006/relationships/hyperlink" Target="https://scispace.com/pdf/deap-a-database-for-emotion-analysis-using-physiological-1b41jp6d2i.pdf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ature.com/articles/s41597-025-05349-2?utm_source=chatgpt.com" TargetMode="External"/><Relationship Id="rId5" Type="http://schemas.openxmlformats.org/officeDocument/2006/relationships/hyperlink" Target="https://zenodo.org/records/546113?utm_source=chatgpt.com" TargetMode="External"/><Relationship Id="rId4" Type="http://schemas.openxmlformats.org/officeDocument/2006/relationships/hyperlink" Target="https://www.eecs.qmul.ac.uk/mmv/datasets/amigos/doc/Paper_TAC.pdf?utm_source=chatgpt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cmi.sjtu.edu.cn/home/seed/seed-iv.html?utm_source=chatgpt.com" TargetMode="External"/><Relationship Id="rId2" Type="http://schemas.openxmlformats.org/officeDocument/2006/relationships/hyperlink" Target="https://bcmi.sjtu.edu.cn/~seed/seed-vig.html?utm_source=chatgp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penreview.net/forum?id=1YRXn34Y82&amp;referrer=%5Bthe+profile+of+Wangshu+Jiang%5D%28%2Fprofile%3Fid%3D~Wangshu_Jiang1%29" TargetMode="External"/><Relationship Id="rId4" Type="http://schemas.openxmlformats.org/officeDocument/2006/relationships/hyperlink" Target="https://osf.io/hd6zk/overvie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7-025-05286-0?utm_source=chatgpt.com" TargetMode="External"/><Relationship Id="rId2" Type="http://schemas.openxmlformats.org/officeDocument/2006/relationships/hyperlink" Target="https://doc.ml.tu-berlin.de/hBCI/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penneuro.org/datasets/ds004514?utm_source=chatgpt.com" TargetMode="External"/><Relationship Id="rId5" Type="http://schemas.openxmlformats.org/officeDocument/2006/relationships/hyperlink" Target="https://figshare.com/articles/dataset/HEFMI-ICH_A_Hybrid_EEG-fNIRS_Motor_Imagery_Dataset_for_Brain-Computer_Interface_in_Intracerebral_Hemorrhage/28955456/4" TargetMode="External"/><Relationship Id="rId4" Type="http://schemas.openxmlformats.org/officeDocument/2006/relationships/hyperlink" Target="https://www.nature.com/articles/s41597-025-06100-7?utm_source=chatgpt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38BFFED-C3ED-487C-8CB2-C570F842D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25185"/>
              </p:ext>
            </p:extLst>
          </p:nvPr>
        </p:nvGraphicFramePr>
        <p:xfrm>
          <a:off x="390525" y="1371600"/>
          <a:ext cx="11277600" cy="493776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17440145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978617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3358693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480788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数据集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模态</a:t>
                      </a:r>
                      <a:endParaRPr lang="en-US" b="1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effectLst/>
                        </a:rPr>
                        <a:t>标签</a:t>
                      </a:r>
                      <a:r>
                        <a:rPr lang="en-US" altLang="zh-CN" b="1" dirty="0">
                          <a:effectLst/>
                        </a:rPr>
                        <a:t>/</a:t>
                      </a:r>
                      <a:r>
                        <a:rPr lang="zh-CN" altLang="en-US" b="1" dirty="0">
                          <a:effectLst/>
                        </a:rPr>
                        <a:t>任务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/>
                        </a:rPr>
                        <a:t>L</a:t>
                      </a:r>
                      <a:r>
                        <a:rPr lang="zh-CN" altLang="en-US" b="1" dirty="0">
                          <a:effectLst/>
                        </a:rPr>
                        <a:t>链接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02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DEAP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 + </a:t>
                      </a:r>
                      <a:r>
                        <a:rPr lang="zh-CN" altLang="en-US">
                          <a:effectLst/>
                        </a:rPr>
                        <a:t>多种外周生理（含 </a:t>
                      </a:r>
                      <a:r>
                        <a:rPr lang="en-US">
                          <a:effectLst/>
                        </a:rPr>
                        <a:t>GSR/</a:t>
                      </a:r>
                      <a:r>
                        <a:rPr lang="zh-CN" altLang="en-US">
                          <a:effectLst/>
                        </a:rPr>
                        <a:t>呼吸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en-US">
                          <a:effectLst/>
                        </a:rPr>
                        <a:t>PPG </a:t>
                      </a:r>
                      <a:r>
                        <a:rPr lang="zh-CN" altLang="en-US">
                          <a:effectLst/>
                        </a:rPr>
                        <a:t>等）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刺激视频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valence/arousal（</a:t>
                      </a:r>
                      <a:r>
                        <a:rPr lang="zh-CN" altLang="en-US">
                          <a:effectLst/>
                        </a:rPr>
                        <a:t>常做二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四分类）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情感识别多模态标配 </a:t>
                      </a:r>
                      <a:r>
                        <a:rPr lang="en-US" altLang="zh-CN">
                          <a:effectLst/>
                        </a:rPr>
                        <a:t>(</a:t>
                      </a:r>
                      <a:r>
                        <a:rPr lang="en-US" u="none" strike="noStrike">
                          <a:solidFill>
                            <a:srgbClr val="0969DA"/>
                          </a:solidFill>
                          <a:effectLst/>
                          <a:hlinkClick r:id="rId2"/>
                        </a:rPr>
                        <a:t>scispace.com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97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MAHNOB-HCI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视频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音频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眼动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生理（</a:t>
                      </a:r>
                      <a:r>
                        <a:rPr lang="en-US" altLang="zh-CN">
                          <a:effectLst/>
                        </a:rPr>
                        <a:t>EEG/ECG/GSR/</a:t>
                      </a:r>
                      <a:r>
                        <a:rPr lang="zh-CN" altLang="en-US">
                          <a:effectLst/>
                        </a:rPr>
                        <a:t>呼吸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皮温等）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情绪分类、隐式标签（</a:t>
                      </a:r>
                      <a:r>
                        <a:rPr lang="en-US" altLang="zh-CN">
                          <a:effectLst/>
                        </a:rPr>
                        <a:t>tagging</a:t>
                      </a:r>
                      <a:r>
                        <a:rPr lang="zh-CN" altLang="en-US">
                          <a:effectLst/>
                        </a:rPr>
                        <a:t>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多模态最全之一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u="none" strike="noStrike" dirty="0">
                          <a:solidFill>
                            <a:srgbClr val="0969DA"/>
                          </a:solidFill>
                          <a:effectLst/>
                          <a:hlinkClick r:id="rId3"/>
                        </a:rPr>
                        <a:t>mahnob-db.eu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64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AMIGOS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EEG + ECG + GSR +</a:t>
                      </a:r>
                      <a:r>
                        <a:rPr lang="zh-CN" altLang="en-US">
                          <a:effectLst/>
                        </a:rPr>
                        <a:t>（个体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群体观看视频）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情绪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人格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心境相关标签（可做分类）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多人场景 </a:t>
                      </a:r>
                      <a:r>
                        <a:rPr lang="en-US" altLang="zh-CN" dirty="0">
                          <a:effectLst/>
                        </a:rPr>
                        <a:t>&amp; </a:t>
                      </a:r>
                      <a:r>
                        <a:rPr lang="zh-CN" altLang="en-US" dirty="0">
                          <a:effectLst/>
                        </a:rPr>
                        <a:t>多模态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altLang="zh-CN" u="none" strike="noStrike" dirty="0">
                          <a:solidFill>
                            <a:srgbClr val="0969DA"/>
                          </a:solidFill>
                          <a:effectLst/>
                          <a:hlinkClick r:id="rId4"/>
                        </a:rPr>
                        <a:t>eecs.qmul.ac.uk</a:t>
                      </a:r>
                      <a:r>
                        <a:rPr lang="en-US" altLang="zh-CN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8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DREAMER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 + ECG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valence/arousal/dominance（</a:t>
                      </a:r>
                      <a:r>
                        <a:rPr lang="zh-CN" altLang="en-US" dirty="0">
                          <a:effectLst/>
                        </a:rPr>
                        <a:t>常做二</a:t>
                      </a:r>
                      <a:r>
                        <a:rPr lang="en-US" altLang="zh-CN" dirty="0">
                          <a:effectLst/>
                        </a:rPr>
                        <a:t>/</a:t>
                      </a:r>
                      <a:r>
                        <a:rPr lang="zh-CN" altLang="en-US" dirty="0">
                          <a:effectLst/>
                        </a:rPr>
                        <a:t>三分类）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设备相对轻量，适合快速 </a:t>
                      </a:r>
                      <a:r>
                        <a:rPr lang="en-US">
                          <a:effectLst/>
                        </a:rPr>
                        <a:t>baseline (</a:t>
                      </a:r>
                      <a:r>
                        <a:rPr lang="en-US" u="none" strike="noStrike">
                          <a:solidFill>
                            <a:srgbClr val="0969DA"/>
                          </a:solidFill>
                          <a:effectLst/>
                          <a:hlinkClick r:id="rId5"/>
                        </a:rPr>
                        <a:t>zenodo.org</a:t>
                      </a:r>
                      <a:r>
                        <a:rPr lang="en-US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875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C000"/>
                          </a:solidFill>
                          <a:effectLst/>
                        </a:rPr>
                        <a:t>EmoEEG</a:t>
                      </a: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-MC (2025)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64ch EEG + </a:t>
                      </a:r>
                      <a:r>
                        <a:rPr lang="zh-CN" altLang="en-US">
                          <a:effectLst/>
                        </a:rPr>
                        <a:t>外周生理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情绪相关任务（跨情境）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新一点的数据源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u="none" strike="noStrike" dirty="0">
                          <a:solidFill>
                            <a:srgbClr val="0969DA"/>
                          </a:solidFill>
                          <a:effectLst/>
                          <a:hlinkClick r:id="rId6"/>
                        </a:rPr>
                        <a:t>nature.com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  <a:p>
                      <a:r>
                        <a:rPr lang="en-US" dirty="0">
                          <a:effectLst/>
                        </a:rPr>
                        <a:t>https://openneuro.org/datasets/ds005540/versions/1.0.7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1695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41D10E4-99BD-4BE3-A86A-A23E9D443AF4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情感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状态（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EEG +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外周生理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音视频）</a:t>
            </a:r>
          </a:p>
        </p:txBody>
      </p:sp>
    </p:spTree>
    <p:extLst>
      <p:ext uri="{BB962C8B-B14F-4D97-AF65-F5344CB8AC3E}">
        <p14:creationId xmlns:p14="http://schemas.microsoft.com/office/powerpoint/2010/main" val="276306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278EA3D-EE0B-48F6-A4B8-B37C75FEC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685656"/>
              </p:ext>
            </p:extLst>
          </p:nvPr>
        </p:nvGraphicFramePr>
        <p:xfrm>
          <a:off x="400050" y="488870"/>
          <a:ext cx="10515600" cy="1920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634305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99442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086075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2915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数据集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模态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标签</a:t>
                      </a:r>
                      <a:r>
                        <a:rPr lang="en-US" altLang="zh-CN" b="1">
                          <a:effectLst/>
                        </a:rPr>
                        <a:t>/</a:t>
                      </a:r>
                      <a:r>
                        <a:rPr lang="zh-CN" altLang="en-US" b="1">
                          <a:effectLst/>
                        </a:rPr>
                        <a:t>任务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81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SEED-VIG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EEG + </a:t>
                      </a:r>
                      <a:r>
                        <a:rPr lang="zh-CN" altLang="en-US" dirty="0">
                          <a:effectLst/>
                        </a:rPr>
                        <a:t>眼动</a:t>
                      </a:r>
                      <a:r>
                        <a:rPr lang="en-US" altLang="zh-CN" dirty="0">
                          <a:effectLst/>
                        </a:rPr>
                        <a:t>/</a:t>
                      </a:r>
                      <a:r>
                        <a:rPr lang="zh-CN" altLang="en-US" dirty="0">
                          <a:effectLst/>
                        </a:rPr>
                        <a:t>（含 </a:t>
                      </a:r>
                      <a:r>
                        <a:rPr lang="en-US" altLang="zh-CN" dirty="0">
                          <a:effectLst/>
                        </a:rPr>
                        <a:t>EOG </a:t>
                      </a:r>
                      <a:r>
                        <a:rPr lang="zh-CN" altLang="en-US" dirty="0">
                          <a:effectLst/>
                        </a:rPr>
                        <a:t>特征），</a:t>
                      </a:r>
                      <a:r>
                        <a:rPr lang="en-US" altLang="zh-CN" dirty="0">
                          <a:effectLst/>
                        </a:rPr>
                        <a:t>PERCLOS </a:t>
                      </a:r>
                      <a:r>
                        <a:rPr lang="zh-CN" altLang="en-US" dirty="0">
                          <a:effectLst/>
                        </a:rPr>
                        <a:t>标签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警觉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疲劳（原始是连续标签，但可阈值化做二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多分类）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SJTU </a:t>
                      </a:r>
                      <a:r>
                        <a:rPr lang="zh-CN" altLang="en-US">
                          <a:effectLst/>
                        </a:rPr>
                        <a:t>官方页面给出数据与标签说明 </a:t>
                      </a:r>
                      <a:r>
                        <a:rPr lang="en-US" altLang="zh-CN">
                          <a:effectLst/>
                        </a:rPr>
                        <a:t>(</a:t>
                      </a:r>
                      <a:r>
                        <a:rPr lang="en-US" altLang="zh-CN" u="none" strike="noStrike">
                          <a:solidFill>
                            <a:srgbClr val="0969DA"/>
                          </a:solidFill>
                          <a:effectLst/>
                          <a:hlinkClick r:id="rId2"/>
                        </a:rPr>
                        <a:t>bcmi.sjtu.edu.cn</a:t>
                      </a:r>
                      <a:r>
                        <a:rPr lang="en-US" altLang="zh-CN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95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SEED-IV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EEG + </a:t>
                      </a:r>
                      <a:r>
                        <a:rPr lang="zh-CN" altLang="en-US" dirty="0">
                          <a:effectLst/>
                        </a:rPr>
                        <a:t>眼动原始数据（</a:t>
                      </a:r>
                      <a:r>
                        <a:rPr lang="en-US" dirty="0" err="1">
                          <a:effectLst/>
                        </a:rPr>
                        <a:t>eye_raw_data</a:t>
                      </a:r>
                      <a:r>
                        <a:rPr lang="en-US" dirty="0">
                          <a:effectLst/>
                        </a:rPr>
                        <a:t>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多类情绪（常做 </a:t>
                      </a:r>
                      <a:r>
                        <a:rPr lang="en-US" altLang="zh-CN" dirty="0">
                          <a:effectLst/>
                        </a:rPr>
                        <a:t>4 </a:t>
                      </a:r>
                      <a:r>
                        <a:rPr lang="zh-CN" altLang="en-US" dirty="0">
                          <a:effectLst/>
                        </a:rPr>
                        <a:t>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官方说明包含眼动文件结构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altLang="zh-CN" u="none" strike="noStrike" dirty="0">
                          <a:solidFill>
                            <a:srgbClr val="0969DA"/>
                          </a:solidFill>
                          <a:effectLst/>
                          <a:hlinkClick r:id="rId3"/>
                        </a:rPr>
                        <a:t>BCMI</a:t>
                      </a:r>
                      <a:r>
                        <a:rPr lang="en-US" altLang="zh-CN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88385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EFFADC2-4B1B-4F33-A564-04AB7DD93091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警觉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疲劳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眼动结合（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EEG + Eye/EOG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11E8FE-2F54-4077-A4BA-A9480375A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858886"/>
              </p:ext>
            </p:extLst>
          </p:nvPr>
        </p:nvGraphicFramePr>
        <p:xfrm>
          <a:off x="0" y="3429000"/>
          <a:ext cx="12287252" cy="3383280"/>
        </p:xfrm>
        <a:graphic>
          <a:graphicData uri="http://schemas.openxmlformats.org/drawingml/2006/table">
            <a:tbl>
              <a:tblPr/>
              <a:tblGrid>
                <a:gridCol w="3071813">
                  <a:extLst>
                    <a:ext uri="{9D8B030D-6E8A-4147-A177-3AD203B41FA5}">
                      <a16:colId xmlns:a16="http://schemas.microsoft.com/office/drawing/2014/main" val="787966280"/>
                    </a:ext>
                  </a:extLst>
                </a:gridCol>
                <a:gridCol w="3071813">
                  <a:extLst>
                    <a:ext uri="{9D8B030D-6E8A-4147-A177-3AD203B41FA5}">
                      <a16:colId xmlns:a16="http://schemas.microsoft.com/office/drawing/2014/main" val="4165099383"/>
                    </a:ext>
                  </a:extLst>
                </a:gridCol>
                <a:gridCol w="3071813">
                  <a:extLst>
                    <a:ext uri="{9D8B030D-6E8A-4147-A177-3AD203B41FA5}">
                      <a16:colId xmlns:a16="http://schemas.microsoft.com/office/drawing/2014/main" val="2931252052"/>
                    </a:ext>
                  </a:extLst>
                </a:gridCol>
                <a:gridCol w="3071813">
                  <a:extLst>
                    <a:ext uri="{9D8B030D-6E8A-4147-A177-3AD203B41FA5}">
                      <a16:colId xmlns:a16="http://schemas.microsoft.com/office/drawing/2014/main" val="255491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数据集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配对模态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</a:rPr>
                        <a:t>分类任务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982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THINGS-EEG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EEG -</a:t>
                      </a:r>
                      <a:r>
                        <a:rPr lang="zh-CN" altLang="en-US" dirty="0">
                          <a:effectLst/>
                        </a:rPr>
                        <a:t>图像（</a:t>
                      </a:r>
                      <a:r>
                        <a:rPr lang="en-US" altLang="zh-CN" dirty="0">
                          <a:effectLst/>
                        </a:rPr>
                        <a:t>1854 </a:t>
                      </a:r>
                      <a:r>
                        <a:rPr lang="zh-CN" altLang="en-US" dirty="0">
                          <a:effectLst/>
                        </a:rPr>
                        <a:t>概念</a:t>
                      </a:r>
                      <a:r>
                        <a:rPr lang="en-US" altLang="zh-CN" dirty="0">
                          <a:effectLst/>
                        </a:rPr>
                        <a:t>/22248 </a:t>
                      </a:r>
                      <a:r>
                        <a:rPr lang="zh-CN" altLang="en-US" dirty="0">
                          <a:effectLst/>
                        </a:rPr>
                        <a:t>图）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物体概念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类别分类、检索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视觉认知大数据集</a:t>
                      </a:r>
                      <a:r>
                        <a:rPr lang="en-US" altLang="zh-CN" dirty="0">
                          <a:hlinkClick r:id="rId4"/>
                        </a:rPr>
                        <a:t>OSF |THINGS-EEG</a:t>
                      </a:r>
                      <a:r>
                        <a:rPr lang="zh-CN" altLang="en-US" dirty="0">
                          <a:hlinkClick r:id="rId4"/>
                        </a:rPr>
                        <a:t>：对</a:t>
                      </a:r>
                      <a:r>
                        <a:rPr lang="en-US" altLang="zh-CN" dirty="0">
                          <a:hlinkClick r:id="rId4"/>
                        </a:rPr>
                        <a:t>50</a:t>
                      </a:r>
                      <a:r>
                        <a:rPr lang="zh-CN" altLang="en-US" dirty="0">
                          <a:hlinkClick r:id="rId4"/>
                        </a:rPr>
                        <a:t>名受试者进行的人类脑电图记录，涵盖</a:t>
                      </a:r>
                      <a:r>
                        <a:rPr lang="en-US" altLang="zh-CN" dirty="0">
                          <a:hlinkClick r:id="rId4"/>
                        </a:rPr>
                        <a:t>22,248</a:t>
                      </a:r>
                      <a:r>
                        <a:rPr lang="zh-CN" altLang="en-US" dirty="0">
                          <a:hlinkClick r:id="rId4"/>
                        </a:rPr>
                        <a:t>张图像，来自</a:t>
                      </a:r>
                      <a:r>
                        <a:rPr lang="en-US" altLang="zh-CN" dirty="0">
                          <a:hlinkClick r:id="rId4"/>
                        </a:rPr>
                        <a:t>1,854</a:t>
                      </a:r>
                      <a:r>
                        <a:rPr lang="zh-CN" altLang="en-US" dirty="0">
                          <a:hlinkClick r:id="rId4"/>
                        </a:rPr>
                        <a:t>个物体概念</a:t>
                      </a:r>
                      <a:endParaRPr lang="en-US" altLang="zh-CN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465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EEG-ImageNet (2024)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EEG -ImageNet </a:t>
                      </a:r>
                      <a:r>
                        <a:rPr lang="zh-CN" altLang="en-US" dirty="0">
                          <a:effectLst/>
                        </a:rPr>
                        <a:t>图像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80 </a:t>
                      </a:r>
                      <a:r>
                        <a:rPr lang="zh-CN" altLang="en-US">
                          <a:effectLst/>
                        </a:rPr>
                        <a:t>类图像类别（</a:t>
                      </a:r>
                      <a:r>
                        <a:rPr lang="en-US" altLang="zh-CN">
                          <a:effectLst/>
                        </a:rPr>
                        <a:t>EEG </a:t>
                      </a:r>
                      <a:r>
                        <a:rPr lang="zh-CN" altLang="en-US">
                          <a:effectLst/>
                        </a:rPr>
                        <a:t>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https://cloud.tsinghua.edu.cn/d/d812f7d1fc474b14bbd0/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72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Alljoined-1.6M (</a:t>
                      </a:r>
                      <a:r>
                        <a:rPr lang="en-US" b="1" dirty="0" err="1">
                          <a:solidFill>
                            <a:srgbClr val="FFC000"/>
                          </a:solidFill>
                          <a:effectLst/>
                        </a:rPr>
                        <a:t>NeurIPS</a:t>
                      </a: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 2025 D&amp;B </a:t>
                      </a:r>
                      <a:r>
                        <a:rPr lang="en-US" b="1" dirty="0" err="1">
                          <a:solidFill>
                            <a:srgbClr val="FFC000"/>
                          </a:solidFill>
                          <a:effectLst/>
                        </a:rPr>
                        <a:t>提交</a:t>
                      </a: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)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EEG - </a:t>
                      </a:r>
                      <a:r>
                        <a:rPr lang="zh-CN" altLang="en-US" dirty="0">
                          <a:effectLst/>
                        </a:rPr>
                        <a:t>图像（超大规模）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EEG→</a:t>
                      </a:r>
                      <a:r>
                        <a:rPr lang="zh-CN" altLang="en-US">
                          <a:effectLst/>
                        </a:rPr>
                        <a:t>语义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类别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重建相关（可取分类子任务）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u="none" strike="noStrike" dirty="0" err="1">
                          <a:solidFill>
                            <a:srgbClr val="0969DA"/>
                          </a:solidFill>
                          <a:effectLst/>
                          <a:hlinkClick r:id="rId5"/>
                        </a:rPr>
                        <a:t>OpenReview</a:t>
                      </a:r>
                      <a:r>
                        <a:rPr lang="en-US" dirty="0">
                          <a:effectLst/>
                        </a:rPr>
                        <a:t>) https://huggingface.co/datasets/Alljoined/Alljoined-1.6M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7376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EED729C-4963-4026-90AF-C85E0340DD8A}"/>
              </a:ext>
            </a:extLst>
          </p:cNvPr>
          <p:cNvSpPr txBox="1"/>
          <p:nvPr/>
        </p:nvSpPr>
        <p:spPr>
          <a:xfrm>
            <a:off x="400050" y="2796837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输入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EEG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，预测图像类别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79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A763CAC-75B2-4639-A908-5CC627A70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900215"/>
              </p:ext>
            </p:extLst>
          </p:nvPr>
        </p:nvGraphicFramePr>
        <p:xfrm>
          <a:off x="542925" y="762794"/>
          <a:ext cx="10515600" cy="5669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9990661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545416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097105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74475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数据集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模态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任务</a:t>
                      </a:r>
                      <a:r>
                        <a:rPr lang="en-US" altLang="zh-CN" b="1">
                          <a:effectLst/>
                        </a:rPr>
                        <a:t>/</a:t>
                      </a:r>
                      <a:r>
                        <a:rPr lang="zh-CN" altLang="en-US" b="1">
                          <a:effectLst/>
                        </a:rPr>
                        <a:t>标签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42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 b="1">
                          <a:effectLst/>
                        </a:rPr>
                        <a:t>TU Berlin Open EEG-NIRS (hBCI)</a:t>
                      </a:r>
                      <a:endParaRPr lang="nl-NL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同步 </a:t>
                      </a:r>
                      <a:r>
                        <a:rPr lang="en-US">
                          <a:effectLst/>
                        </a:rPr>
                        <a:t>EEG + NIRS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左右手 </a:t>
                      </a:r>
                      <a:r>
                        <a:rPr lang="en-US" altLang="zh-CN">
                          <a:effectLst/>
                        </a:rPr>
                        <a:t>MI</a:t>
                      </a:r>
                      <a:r>
                        <a:rPr lang="zh-CN" altLang="en-US">
                          <a:effectLst/>
                        </a:rPr>
                        <a:t>；心算 </a:t>
                      </a:r>
                      <a:r>
                        <a:rPr lang="en-US" altLang="zh-CN">
                          <a:effectLst/>
                        </a:rPr>
                        <a:t>vs </a:t>
                      </a:r>
                      <a:r>
                        <a:rPr lang="zh-CN" altLang="en-US">
                          <a:effectLst/>
                        </a:rPr>
                        <a:t>静息（分类）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明确是开放的 </a:t>
                      </a:r>
                      <a:r>
                        <a:rPr lang="en-US" dirty="0">
                          <a:effectLst/>
                        </a:rPr>
                        <a:t>EEG-NIRS </a:t>
                      </a:r>
                      <a:r>
                        <a:rPr lang="zh-CN" altLang="en-US" dirty="0">
                          <a:effectLst/>
                        </a:rPr>
                        <a:t>数据集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u="none" strike="noStrike" dirty="0">
                          <a:solidFill>
                            <a:srgbClr val="0969DA"/>
                          </a:solidFill>
                          <a:effectLst/>
                          <a:hlinkClick r:id="rId2"/>
                        </a:rPr>
                        <a:t>doc.ml.tu-berlin.de</a:t>
                      </a:r>
                      <a:r>
                        <a:rPr lang="en-US" dirty="0">
                          <a:effectLst/>
                        </a:rPr>
                        <a:t>)</a:t>
                      </a:r>
                      <a:r>
                        <a:rPr lang="zh-CN" altLang="en-US" dirty="0">
                          <a:effectLst/>
                        </a:rPr>
                        <a:t>，就是得填个表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375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Sci Data 2025（EEG+fNIRS </a:t>
                      </a:r>
                      <a:r>
                        <a:rPr lang="zh-CN" altLang="en-US" b="1" dirty="0">
                          <a:solidFill>
                            <a:srgbClr val="FFC000"/>
                          </a:solidFill>
                          <a:effectLst/>
                        </a:rPr>
                        <a:t>多 </a:t>
                      </a:r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MI </a:t>
                      </a:r>
                      <a:r>
                        <a:rPr lang="zh-CN" altLang="en-US" b="1" dirty="0">
                          <a:solidFill>
                            <a:srgbClr val="FFC000"/>
                          </a:solidFill>
                          <a:effectLst/>
                        </a:rPr>
                        <a:t>任务）</a:t>
                      </a:r>
                      <a:endParaRPr lang="zh-CN" alt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 + fNIRS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8 </a:t>
                      </a:r>
                      <a:r>
                        <a:rPr lang="zh-CN" altLang="en-US">
                          <a:effectLst/>
                        </a:rPr>
                        <a:t>个 </a:t>
                      </a:r>
                      <a:r>
                        <a:rPr lang="en-US" altLang="zh-CN">
                          <a:effectLst/>
                        </a:rPr>
                        <a:t>MI </a:t>
                      </a:r>
                      <a:r>
                        <a:rPr lang="zh-CN" altLang="en-US">
                          <a:effectLst/>
                        </a:rPr>
                        <a:t>任务（分类）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同步采集，动作类别更细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altLang="zh-CN" u="none" strike="noStrike" dirty="0">
                          <a:solidFill>
                            <a:srgbClr val="0969DA"/>
                          </a:solidFill>
                          <a:effectLst/>
                          <a:hlinkClick r:id="rId3"/>
                        </a:rPr>
                        <a:t>Nature</a:t>
                      </a:r>
                      <a:r>
                        <a:rPr lang="en-US" altLang="zh-CN" dirty="0">
                          <a:effectLst/>
                        </a:rPr>
                        <a:t>)</a:t>
                      </a:r>
                      <a:r>
                        <a:rPr lang="zh-CN" altLang="en-US" dirty="0">
                          <a:effectLst/>
                        </a:rPr>
                        <a:t>完全开源的，就是下载极其慢</a:t>
                      </a:r>
                      <a:endParaRPr lang="en-US" altLang="zh-CN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2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  <a:effectLst/>
                        </a:rPr>
                        <a:t>HEFMI-ICH (2025)</a:t>
                      </a:r>
                      <a:endParaRPr lang="en-US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EEG + </a:t>
                      </a:r>
                      <a:r>
                        <a:rPr lang="en-US" dirty="0" err="1">
                          <a:effectLst/>
                        </a:rPr>
                        <a:t>fNIRS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康复相关的 </a:t>
                      </a:r>
                      <a:r>
                        <a:rPr lang="en-US" altLang="zh-CN" dirty="0">
                          <a:effectLst/>
                        </a:rPr>
                        <a:t>MI / </a:t>
                      </a:r>
                      <a:r>
                        <a:rPr lang="zh-CN" altLang="en-US" dirty="0">
                          <a:effectLst/>
                        </a:rPr>
                        <a:t>运动相关任务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偏临床康复场景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u="none" strike="noStrike" dirty="0">
                          <a:solidFill>
                            <a:srgbClr val="0969DA"/>
                          </a:solidFill>
                          <a:effectLst/>
                          <a:hlinkClick r:id="rId4"/>
                        </a:rPr>
                        <a:t>Nature</a:t>
                      </a:r>
                      <a:r>
                        <a:rPr lang="en-US" dirty="0">
                          <a:effectLst/>
                        </a:rPr>
                        <a:t>)</a:t>
                      </a:r>
                      <a:r>
                        <a:rPr lang="en-US" altLang="zh-CN" dirty="0">
                          <a:hlinkClick r:id="rId5"/>
                        </a:rPr>
                        <a:t> Item - HEFMI-ICH: A Hybrid EEG-</a:t>
                      </a:r>
                      <a:r>
                        <a:rPr lang="en-US" altLang="zh-CN" dirty="0" err="1">
                          <a:hlinkClick r:id="rId5"/>
                        </a:rPr>
                        <a:t>fNIRS</a:t>
                      </a:r>
                      <a:r>
                        <a:rPr lang="en-US" altLang="zh-CN" dirty="0">
                          <a:hlinkClick r:id="rId5"/>
                        </a:rPr>
                        <a:t> Motor Imagery Dataset for Brain-Computer Interface in Intracerebral Hemorrhage - </a:t>
                      </a:r>
                      <a:r>
                        <a:rPr lang="en-US" altLang="zh-CN" dirty="0" err="1">
                          <a:hlinkClick r:id="rId5"/>
                        </a:rPr>
                        <a:t>figshare</a:t>
                      </a:r>
                      <a:r>
                        <a:rPr lang="en-US" altLang="zh-CN" dirty="0">
                          <a:hlinkClick r:id="rId5"/>
                        </a:rPr>
                        <a:t> - </a:t>
                      </a:r>
                      <a:r>
                        <a:rPr lang="en-US" altLang="zh-CN" dirty="0" err="1">
                          <a:hlinkClick r:id="rId5"/>
                        </a:rPr>
                        <a:t>Figshare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75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OpenNeuro ds004514 (2025)</a:t>
                      </a:r>
                      <a:endParaRPr lang="en-US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同步 </a:t>
                      </a:r>
                      <a:r>
                        <a:rPr lang="en-US">
                          <a:effectLst/>
                        </a:rPr>
                        <a:t>EEG + fNIRS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语义相关实验任务（可构造分类）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公开数据入口 </a:t>
                      </a:r>
                      <a:r>
                        <a:rPr lang="en-US" altLang="zh-CN" dirty="0">
                          <a:effectLst/>
                        </a:rPr>
                        <a:t>(</a:t>
                      </a:r>
                      <a:r>
                        <a:rPr lang="en-US" u="none" strike="noStrike" dirty="0">
                          <a:solidFill>
                            <a:srgbClr val="0969DA"/>
                          </a:solidFill>
                          <a:effectLst/>
                          <a:hlinkClick r:id="rId6"/>
                        </a:rPr>
                        <a:t>openneuro.org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4250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F6D5717-92A7-4FF9-8B20-A87A434D97C5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混合脑信号（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EEG + </a:t>
            </a:r>
            <a:r>
              <a:rPr lang="en-US" altLang="zh-CN" b="1" i="0" dirty="0" err="1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fNIRS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等）</a:t>
            </a:r>
          </a:p>
        </p:txBody>
      </p:sp>
    </p:spTree>
    <p:extLst>
      <p:ext uri="{BB962C8B-B14F-4D97-AF65-F5344CB8AC3E}">
        <p14:creationId xmlns:p14="http://schemas.microsoft.com/office/powerpoint/2010/main" val="90733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CFB846-C660-4CF8-A40B-B2F6D548D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330144"/>
              </p:ext>
            </p:extLst>
          </p:nvPr>
        </p:nvGraphicFramePr>
        <p:xfrm>
          <a:off x="704850" y="1761014"/>
          <a:ext cx="10515600" cy="2651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7230494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188466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418669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211727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0046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数据集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</a:rPr>
                        <a:t>模态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任务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优点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潜在问题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53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DEAP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EEG + </a:t>
                      </a:r>
                      <a:r>
                        <a:rPr lang="zh-CN" altLang="en-US">
                          <a:effectLst/>
                        </a:rPr>
                        <a:t>外周生理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视频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情感分类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多模态经典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</a:rPr>
                        <a:t>trial </a:t>
                      </a:r>
                      <a:r>
                        <a:rPr lang="zh-CN" altLang="en-US">
                          <a:effectLst/>
                        </a:rPr>
                        <a:t>长、标注连续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392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SEED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62ch EEG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情感分类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通道多、信号干净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单模态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712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SEED-IV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 + </a:t>
                      </a:r>
                      <a:r>
                        <a:rPr lang="zh-CN" altLang="en-US">
                          <a:effectLst/>
                        </a:rPr>
                        <a:t>眼动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4 </a:t>
                      </a:r>
                      <a:r>
                        <a:rPr lang="zh-CN" altLang="en-US" dirty="0">
                          <a:effectLst/>
                        </a:rPr>
                        <a:t>类情绪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自然两模态，可做融合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采样率需对齐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8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SEED-VIG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EEG + EOG </a:t>
                      </a:r>
                      <a:r>
                        <a:rPr lang="zh-CN" altLang="en-US" dirty="0">
                          <a:effectLst/>
                        </a:rPr>
                        <a:t>特征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警觉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疲劳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已是特征序列，适合时序模型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场景偏驾驶应用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61403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329607D-9D16-44FF-94BD-E8A0278EC73F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现手头有的 </a:t>
            </a:r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EEG 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多模态数据集</a:t>
            </a:r>
          </a:p>
        </p:txBody>
      </p:sp>
    </p:spTree>
    <p:extLst>
      <p:ext uri="{BB962C8B-B14F-4D97-AF65-F5344CB8AC3E}">
        <p14:creationId xmlns:p14="http://schemas.microsoft.com/office/powerpoint/2010/main" val="188896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C6A781D-455D-441A-A2F5-F6D3770B30F0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DEAP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数据集格式</a:t>
            </a:r>
            <a:endParaRPr lang="en-US" altLang="zh-CN" b="1" i="0" dirty="0">
              <a:solidFill>
                <a:srgbClr val="24292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3913AA-EFCF-4C50-B6AA-81EB78D5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839203"/>
            <a:ext cx="4686300" cy="517959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B5DEA30-1CF7-438F-BA04-F528346BC368}"/>
              </a:ext>
            </a:extLst>
          </p:cNvPr>
          <p:cNvSpPr txBox="1"/>
          <p:nvPr/>
        </p:nvSpPr>
        <p:spPr>
          <a:xfrm>
            <a:off x="5657850" y="839203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DEAP </a:t>
            </a:r>
            <a:r>
              <a:rPr lang="zh-CN" altLang="en-US" dirty="0"/>
              <a:t>数据集包含 </a:t>
            </a:r>
            <a:r>
              <a:rPr lang="en-US" altLang="zh-CN" dirty="0"/>
              <a:t>32 </a:t>
            </a:r>
            <a:r>
              <a:rPr lang="zh-CN" altLang="en-US" dirty="0"/>
              <a:t>名健康被试，每名被试观看 </a:t>
            </a:r>
            <a:r>
              <a:rPr lang="en-US" altLang="zh-CN" dirty="0"/>
              <a:t>40 </a:t>
            </a:r>
            <a:r>
              <a:rPr lang="zh-CN" altLang="en-US" dirty="0"/>
              <a:t>段带情感标注的音乐视频（每段约 </a:t>
            </a:r>
            <a:r>
              <a:rPr lang="en-US" altLang="zh-CN" dirty="0"/>
              <a:t>60 </a:t>
            </a:r>
            <a:r>
              <a:rPr lang="zh-CN" altLang="en-US" dirty="0"/>
              <a:t>秒）。在观看过程中同步采集脑电和多种外周生理信号，并通过摄像头记录被试面部表情。</a:t>
            </a:r>
          </a:p>
          <a:p>
            <a:endParaRPr lang="zh-CN" altLang="en-US" dirty="0"/>
          </a:p>
          <a:p>
            <a:r>
              <a:rPr lang="zh-CN" altLang="en-US" dirty="0"/>
              <a:t>采集模态：</a:t>
            </a:r>
          </a:p>
          <a:p>
            <a:endParaRPr lang="zh-CN" altLang="en-US" dirty="0"/>
          </a:p>
          <a:p>
            <a:r>
              <a:rPr lang="en-US" altLang="zh-CN" dirty="0"/>
              <a:t>EEG</a:t>
            </a:r>
            <a:r>
              <a:rPr lang="zh-CN" altLang="en-US" dirty="0"/>
              <a:t>： </a:t>
            </a:r>
            <a:r>
              <a:rPr lang="en-US" altLang="zh-CN" dirty="0"/>
              <a:t>32 </a:t>
            </a:r>
            <a:r>
              <a:rPr lang="zh-CN" altLang="en-US" dirty="0"/>
              <a:t>通道头皮脑电信号（多通道时间序列）；</a:t>
            </a:r>
          </a:p>
          <a:p>
            <a:r>
              <a:rPr lang="zh-CN" altLang="en-US" dirty="0"/>
              <a:t>外周生理： 包括眼电、皮电（</a:t>
            </a:r>
            <a:r>
              <a:rPr lang="en-US" altLang="zh-CN" dirty="0"/>
              <a:t>GSR</a:t>
            </a:r>
            <a:r>
              <a:rPr lang="zh-CN" altLang="en-US" dirty="0"/>
              <a:t>）、血容量脉搏（</a:t>
            </a:r>
            <a:r>
              <a:rPr lang="en-US" altLang="zh-CN" dirty="0"/>
              <a:t>BVP</a:t>
            </a:r>
            <a:r>
              <a:rPr lang="zh-CN" altLang="en-US" dirty="0"/>
              <a:t>）、呼吸、肌电（</a:t>
            </a:r>
            <a:r>
              <a:rPr lang="en-US" altLang="zh-CN" dirty="0"/>
              <a:t>EMG</a:t>
            </a:r>
            <a:r>
              <a:rPr lang="zh-CN" altLang="en-US" dirty="0"/>
              <a:t>）、皮肤温度等 </a:t>
            </a:r>
            <a:r>
              <a:rPr lang="en-US" altLang="zh-CN" dirty="0"/>
              <a:t>8 </a:t>
            </a:r>
            <a:r>
              <a:rPr lang="zh-CN" altLang="en-US" dirty="0"/>
              <a:t>路信号；</a:t>
            </a:r>
          </a:p>
          <a:p>
            <a:r>
              <a:rPr lang="zh-CN" altLang="en-US" dirty="0"/>
              <a:t>视觉模态： 刺激音乐视频本身，以及被试的面部视频。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其中包含</a:t>
            </a:r>
            <a:r>
              <a:rPr lang="en-US" altLang="zh-CN" dirty="0"/>
              <a:t>32</a:t>
            </a:r>
            <a:r>
              <a:rPr lang="zh-CN" altLang="en-US" dirty="0"/>
              <a:t>个</a:t>
            </a:r>
            <a:r>
              <a:rPr lang="en-US" altLang="zh-CN" dirty="0"/>
              <a:t>.mat</a:t>
            </a:r>
            <a:r>
              <a:rPr lang="zh-CN" altLang="en-US" dirty="0"/>
              <a:t>文件，每一个文件包含两部分</a:t>
            </a:r>
            <a:r>
              <a:rPr lang="en-US" altLang="zh-CN" dirty="0"/>
              <a:t>:</a:t>
            </a:r>
            <a:r>
              <a:rPr lang="zh-CN" altLang="en-US" dirty="0"/>
              <a:t>一部分是名称为 </a:t>
            </a:r>
            <a:r>
              <a:rPr lang="en-US" altLang="zh-CN" dirty="0"/>
              <a:t>data</a:t>
            </a:r>
            <a:r>
              <a:rPr lang="zh-CN" altLang="en-US" dirty="0"/>
              <a:t>的文件夹，内含每名被试者的脑电实验数据，数据采用频率为</a:t>
            </a:r>
            <a:r>
              <a:rPr lang="en-US" altLang="zh-CN" dirty="0"/>
              <a:t>128Hz;</a:t>
            </a:r>
          </a:p>
          <a:p>
            <a:r>
              <a:rPr lang="zh-CN" altLang="en-US" dirty="0"/>
              <a:t>另一部分是名称为</a:t>
            </a:r>
            <a:r>
              <a:rPr lang="en-US" altLang="zh-CN" dirty="0"/>
              <a:t>labels</a:t>
            </a:r>
            <a:r>
              <a:rPr lang="zh-CN" altLang="en-US" dirty="0"/>
              <a:t>的文件夹，大小为</a:t>
            </a:r>
            <a:r>
              <a:rPr lang="en-US" altLang="zh-CN" dirty="0"/>
              <a:t>40x4</a:t>
            </a:r>
            <a:r>
              <a:rPr lang="zh-CN" altLang="en-US" dirty="0"/>
              <a:t>的矩阵，四列分别代表效价、唤醒度、支配和喜欢的值，其值由被试者在观看</a:t>
            </a:r>
            <a:r>
              <a:rPr lang="en-US" altLang="zh-CN" dirty="0"/>
              <a:t>40</a:t>
            </a:r>
            <a:r>
              <a:rPr lang="zh-CN" altLang="en-US" dirty="0"/>
              <a:t>段视频后进行打分得到。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114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1ABA493-9884-473F-BB3E-01DEAFA3CE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591"/>
          <a:stretch/>
        </p:blipFill>
        <p:spPr>
          <a:xfrm>
            <a:off x="76649" y="1790700"/>
            <a:ext cx="5069624" cy="29908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43B26EF-9ECE-4A39-99EB-C2DADC6C0B59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SEEDIV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数据集格式</a:t>
            </a:r>
            <a:endParaRPr lang="en-US" altLang="zh-CN" b="1" i="0" dirty="0">
              <a:solidFill>
                <a:srgbClr val="24292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D8530D-15EA-4380-BBF1-7B33120E9254}"/>
              </a:ext>
            </a:extLst>
          </p:cNvPr>
          <p:cNvSpPr txBox="1"/>
          <p:nvPr/>
        </p:nvSpPr>
        <p:spPr>
          <a:xfrm>
            <a:off x="5288756" y="785723"/>
            <a:ext cx="61198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SEED-IV </a:t>
            </a:r>
            <a:r>
              <a:rPr lang="zh-CN" altLang="en-US" dirty="0"/>
              <a:t>是一个 </a:t>
            </a:r>
            <a:r>
              <a:rPr lang="en-US" altLang="zh-CN" dirty="0"/>
              <a:t>EEG + </a:t>
            </a:r>
            <a:r>
              <a:rPr lang="zh-CN" altLang="en-US" dirty="0"/>
              <a:t>眼动 的多模态情感识别数据集。</a:t>
            </a:r>
          </a:p>
          <a:p>
            <a:r>
              <a:rPr lang="en-US" altLang="zh-CN" dirty="0"/>
              <a:t>15 </a:t>
            </a:r>
            <a:r>
              <a:rPr lang="zh-CN" altLang="en-US" dirty="0"/>
              <a:t>名被试、</a:t>
            </a:r>
            <a:r>
              <a:rPr lang="en-US" altLang="zh-CN" dirty="0"/>
              <a:t>3 </a:t>
            </a:r>
            <a:r>
              <a:rPr lang="zh-CN" altLang="en-US" dirty="0"/>
              <a:t>次实验，每次观看 </a:t>
            </a:r>
            <a:r>
              <a:rPr lang="en-US" altLang="zh-CN" dirty="0"/>
              <a:t>24 </a:t>
            </a:r>
            <a:r>
              <a:rPr lang="zh-CN" altLang="en-US" dirty="0"/>
              <a:t>段情绪影片（快乐、悲伤、恐惧、中性 </a:t>
            </a:r>
            <a:r>
              <a:rPr lang="en-US" altLang="zh-CN" dirty="0"/>
              <a:t>4 </a:t>
            </a:r>
            <a:r>
              <a:rPr lang="zh-CN" altLang="en-US" dirty="0"/>
              <a:t>类），同步采集 </a:t>
            </a:r>
            <a:r>
              <a:rPr lang="en-US" altLang="zh-CN" dirty="0"/>
              <a:t>62 </a:t>
            </a:r>
            <a:r>
              <a:rPr lang="zh-CN" altLang="en-US" dirty="0"/>
              <a:t>通道 </a:t>
            </a:r>
            <a:r>
              <a:rPr lang="en-US" altLang="zh-CN" dirty="0"/>
              <a:t>EEG </a:t>
            </a:r>
            <a:r>
              <a:rPr lang="zh-CN" altLang="en-US" dirty="0"/>
              <a:t>和眼动数据，并提供原始信号和预先提取好的特征。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065ED89-9051-4EC8-93DC-A9186309D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75454"/>
              </p:ext>
            </p:extLst>
          </p:nvPr>
        </p:nvGraphicFramePr>
        <p:xfrm>
          <a:off x="5453062" y="2225833"/>
          <a:ext cx="5791200" cy="4393486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364877744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3789129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160373395"/>
                    </a:ext>
                  </a:extLst>
                </a:gridCol>
              </a:tblGrid>
              <a:tr h="100802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eeg_raw_data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</a:rPr>
                        <a:t>62 </a:t>
                      </a:r>
                      <a:r>
                        <a:rPr lang="zh-CN" altLang="en-US" dirty="0">
                          <a:effectLst/>
                        </a:rPr>
                        <a:t>通道原始 </a:t>
                      </a:r>
                      <a:r>
                        <a:rPr lang="en-US" dirty="0">
                          <a:effectLst/>
                        </a:rPr>
                        <a:t>EEG </a:t>
                      </a:r>
                      <a:r>
                        <a:rPr lang="zh-CN" altLang="en-US" dirty="0">
                          <a:effectLst/>
                        </a:rPr>
                        <a:t>波形（</a:t>
                      </a:r>
                      <a:r>
                        <a:rPr lang="en-US" altLang="zh-CN" dirty="0">
                          <a:effectLst/>
                        </a:rPr>
                        <a:t>1000 </a:t>
                      </a:r>
                      <a:r>
                        <a:rPr lang="en-US" dirty="0">
                          <a:effectLst/>
                        </a:rPr>
                        <a:t>Hz），</a:t>
                      </a:r>
                      <a:r>
                        <a:rPr lang="zh-CN" altLang="en-US" dirty="0">
                          <a:effectLst/>
                        </a:rPr>
                        <a:t>按 </a:t>
                      </a:r>
                      <a:r>
                        <a:rPr lang="en-US" dirty="0">
                          <a:effectLst/>
                        </a:rPr>
                        <a:t>trial </a:t>
                      </a:r>
                      <a:r>
                        <a:rPr lang="zh-CN" altLang="en-US" dirty="0">
                          <a:effectLst/>
                        </a:rPr>
                        <a:t>存储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如需自定义滤波 </a:t>
                      </a:r>
                      <a:r>
                        <a:rPr lang="en-US" altLang="zh-CN">
                          <a:effectLst/>
                        </a:rPr>
                        <a:t>/ </a:t>
                      </a:r>
                      <a:r>
                        <a:rPr lang="zh-CN" altLang="en-US">
                          <a:effectLst/>
                        </a:rPr>
                        <a:t>时频分析时使用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019191"/>
                  </a:ext>
                </a:extLst>
              </a:tr>
              <a:tr h="100802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eeg_feature_smooth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已提取并平滑的 </a:t>
                      </a:r>
                      <a:r>
                        <a:rPr lang="en-US" altLang="zh-CN">
                          <a:effectLst/>
                        </a:rPr>
                        <a:t>EEG </a:t>
                      </a:r>
                      <a:r>
                        <a:rPr lang="zh-CN" altLang="en-US">
                          <a:effectLst/>
                        </a:rPr>
                        <a:t>频域特征（时间 </a:t>
                      </a:r>
                      <a:r>
                        <a:rPr lang="en-US" altLang="zh-CN">
                          <a:effectLst/>
                        </a:rPr>
                        <a:t>× </a:t>
                      </a:r>
                      <a:r>
                        <a:rPr lang="zh-CN" altLang="en-US">
                          <a:effectLst/>
                        </a:rPr>
                        <a:t>特征向量）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作为 </a:t>
                      </a:r>
                      <a:r>
                        <a:rPr lang="en-US" altLang="zh-CN" b="1">
                          <a:effectLst/>
                        </a:rPr>
                        <a:t>EEG </a:t>
                      </a:r>
                      <a:r>
                        <a:rPr lang="zh-CN" altLang="en-US" b="1">
                          <a:effectLst/>
                        </a:rPr>
                        <a:t>模态</a:t>
                      </a:r>
                      <a:r>
                        <a:rPr lang="zh-CN" altLang="en-US">
                          <a:effectLst/>
                        </a:rPr>
                        <a:t> 的输入，直接用于时间序列模型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265719"/>
                  </a:ext>
                </a:extLst>
              </a:tr>
              <a:tr h="1008023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eye_raw_data</a:t>
                      </a:r>
                      <a:endParaRPr lang="en-US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原始眼动数</a:t>
                      </a:r>
                      <a:r>
                        <a:rPr lang="en-US" altLang="zh-CN" dirty="0">
                          <a:effectLst/>
                        </a:rPr>
                        <a:t>60HZ</a:t>
                      </a:r>
                      <a:r>
                        <a:rPr lang="zh-CN" altLang="en-US" dirty="0">
                          <a:effectLst/>
                        </a:rPr>
                        <a:t>据（视线坐标、瞳孔大小等）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做细粒度眼动分析时使用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30090"/>
                  </a:ext>
                </a:extLst>
              </a:tr>
              <a:tr h="100802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eye_feature_smooth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已提取并平滑的眼动特征序列（时间 </a:t>
                      </a:r>
                      <a:r>
                        <a:rPr lang="en-US" altLang="zh-CN" dirty="0">
                          <a:effectLst/>
                        </a:rPr>
                        <a:t>× </a:t>
                      </a:r>
                      <a:r>
                        <a:rPr lang="zh-CN" altLang="en-US" dirty="0">
                          <a:effectLst/>
                        </a:rPr>
                        <a:t>特征向量）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作为 </a:t>
                      </a:r>
                      <a:r>
                        <a:rPr lang="zh-CN" altLang="en-US" b="1" dirty="0">
                          <a:effectLst/>
                        </a:rPr>
                        <a:t>眼动模态</a:t>
                      </a:r>
                      <a:r>
                        <a:rPr lang="zh-CN" altLang="en-US" dirty="0">
                          <a:effectLst/>
                        </a:rPr>
                        <a:t> 的输入，与 </a:t>
                      </a:r>
                      <a:r>
                        <a:rPr lang="en-US" altLang="zh-CN" dirty="0">
                          <a:effectLst/>
                        </a:rPr>
                        <a:t>EEG </a:t>
                      </a:r>
                      <a:r>
                        <a:rPr lang="zh-CN" altLang="en-US" dirty="0">
                          <a:effectLst/>
                        </a:rPr>
                        <a:t>做多模态融合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97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752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4F3CA9-DB7F-4C83-8068-EE893FBE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450"/>
            <a:ext cx="5066980" cy="31242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7B67F89-B48C-489B-8F91-F76E56DA1756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SEED-VIG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数据集格式</a:t>
            </a:r>
            <a:endParaRPr lang="en-US" altLang="zh-CN" b="1" i="0" dirty="0">
              <a:solidFill>
                <a:srgbClr val="24292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97DCC1-D552-4CC5-AC5B-F1452631C2E2}"/>
              </a:ext>
            </a:extLst>
          </p:cNvPr>
          <p:cNvSpPr txBox="1"/>
          <p:nvPr/>
        </p:nvSpPr>
        <p:spPr>
          <a:xfrm>
            <a:off x="5479256" y="713898"/>
            <a:ext cx="61198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SEED-VIG </a:t>
            </a:r>
            <a:r>
              <a:rPr lang="zh-CN" altLang="en-US" dirty="0"/>
              <a:t>是一个 驾驶场景下的警觉 </a:t>
            </a:r>
            <a:r>
              <a:rPr lang="en-US" altLang="zh-CN" dirty="0"/>
              <a:t>/ </a:t>
            </a:r>
            <a:r>
              <a:rPr lang="zh-CN" altLang="en-US" dirty="0"/>
              <a:t>疲劳检测多模态数据集。</a:t>
            </a:r>
          </a:p>
          <a:p>
            <a:r>
              <a:rPr lang="zh-CN" altLang="en-US" dirty="0"/>
              <a:t>同步采集整头 </a:t>
            </a:r>
            <a:r>
              <a:rPr lang="en-US" altLang="zh-CN" dirty="0"/>
              <a:t>EEG</a:t>
            </a:r>
            <a:r>
              <a:rPr lang="zh-CN" altLang="en-US" dirty="0"/>
              <a:t>、前额 </a:t>
            </a:r>
            <a:r>
              <a:rPr lang="en-US" altLang="zh-CN" dirty="0"/>
              <a:t>EEG/EOG </a:t>
            </a:r>
            <a:r>
              <a:rPr lang="zh-CN" altLang="en-US" dirty="0"/>
              <a:t>以及驾驶表现指标，并提供多种频域特征和 </a:t>
            </a:r>
            <a:r>
              <a:rPr lang="en-US" altLang="zh-CN" dirty="0"/>
              <a:t>PERCLOS</a:t>
            </a:r>
            <a:r>
              <a:rPr lang="zh-CN" altLang="en-US" dirty="0"/>
              <a:t>（眼睑闭合比例）等疲劳标签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B5A1499-5033-4F77-9068-714E3ACA4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993268"/>
              </p:ext>
            </p:extLst>
          </p:nvPr>
        </p:nvGraphicFramePr>
        <p:xfrm>
          <a:off x="5479256" y="2264570"/>
          <a:ext cx="6265068" cy="4297680"/>
        </p:xfrm>
        <a:graphic>
          <a:graphicData uri="http://schemas.openxmlformats.org/drawingml/2006/table">
            <a:tbl>
              <a:tblPr/>
              <a:tblGrid>
                <a:gridCol w="2088356">
                  <a:extLst>
                    <a:ext uri="{9D8B030D-6E8A-4147-A177-3AD203B41FA5}">
                      <a16:colId xmlns:a16="http://schemas.microsoft.com/office/drawing/2014/main" val="2005189425"/>
                    </a:ext>
                  </a:extLst>
                </a:gridCol>
                <a:gridCol w="2088356">
                  <a:extLst>
                    <a:ext uri="{9D8B030D-6E8A-4147-A177-3AD203B41FA5}">
                      <a16:colId xmlns:a16="http://schemas.microsoft.com/office/drawing/2014/main" val="3882445154"/>
                    </a:ext>
                  </a:extLst>
                </a:gridCol>
                <a:gridCol w="2088356">
                  <a:extLst>
                    <a:ext uri="{9D8B030D-6E8A-4147-A177-3AD203B41FA5}">
                      <a16:colId xmlns:a16="http://schemas.microsoft.com/office/drawing/2014/main" val="3845126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Raw_Data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原始整头 </a:t>
                      </a:r>
                      <a:r>
                        <a:rPr lang="en-US">
                          <a:effectLst/>
                        </a:rPr>
                        <a:t>EEG / </a:t>
                      </a:r>
                      <a:r>
                        <a:rPr lang="zh-CN" altLang="en-US">
                          <a:effectLst/>
                        </a:rPr>
                        <a:t>前额 </a:t>
                      </a:r>
                      <a:r>
                        <a:rPr lang="en-US">
                          <a:effectLst/>
                        </a:rPr>
                        <a:t>EEG / EOG </a:t>
                      </a:r>
                      <a:r>
                        <a:rPr lang="zh-CN" altLang="en-US">
                          <a:effectLst/>
                        </a:rPr>
                        <a:t>波形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自定义预处理或时频分析时使用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070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EEG_Feature_2Hz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按 </a:t>
                      </a:r>
                      <a:r>
                        <a:rPr lang="en-US" altLang="zh-CN" dirty="0">
                          <a:effectLst/>
                        </a:rPr>
                        <a:t>2</a:t>
                      </a:r>
                      <a:r>
                        <a:rPr lang="en-US" dirty="0">
                          <a:effectLst/>
                        </a:rPr>
                        <a:t>Hz </a:t>
                      </a:r>
                      <a:r>
                        <a:rPr lang="zh-CN" altLang="en-US" dirty="0">
                          <a:effectLst/>
                        </a:rPr>
                        <a:t>时间分辨率提取的 </a:t>
                      </a:r>
                      <a:r>
                        <a:rPr lang="en-US" dirty="0">
                          <a:effectLst/>
                        </a:rPr>
                        <a:t>EEG </a:t>
                      </a:r>
                      <a:r>
                        <a:rPr lang="zh-CN" altLang="en-US" dirty="0">
                          <a:effectLst/>
                        </a:rPr>
                        <a:t>特征序列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作为 </a:t>
                      </a:r>
                      <a:r>
                        <a:rPr lang="en-US" altLang="zh-CN">
                          <a:effectLst/>
                        </a:rPr>
                        <a:t>EEG </a:t>
                      </a:r>
                      <a:r>
                        <a:rPr lang="zh-CN" altLang="en-US">
                          <a:effectLst/>
                        </a:rPr>
                        <a:t>模态输入（时间 </a:t>
                      </a:r>
                      <a:r>
                        <a:rPr lang="en-US" altLang="zh-CN">
                          <a:effectLst/>
                        </a:rPr>
                        <a:t>× </a:t>
                      </a:r>
                      <a:r>
                        <a:rPr lang="zh-CN" altLang="en-US">
                          <a:effectLst/>
                        </a:rPr>
                        <a:t>特征）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523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EEG_Feature_5Bands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分 </a:t>
                      </a:r>
                      <a:r>
                        <a:rPr lang="en-US" altLang="zh-CN">
                          <a:effectLst/>
                        </a:rPr>
                        <a:t>5 </a:t>
                      </a:r>
                      <a:r>
                        <a:rPr lang="zh-CN" altLang="en-US">
                          <a:effectLst/>
                        </a:rPr>
                        <a:t>个频带的 </a:t>
                      </a:r>
                      <a:r>
                        <a:rPr lang="en-US" altLang="zh-CN">
                          <a:effectLst/>
                        </a:rPr>
                        <a:t>EEG </a:t>
                      </a:r>
                      <a:r>
                        <a:rPr lang="zh-CN" altLang="en-US">
                          <a:effectLst/>
                        </a:rPr>
                        <a:t>频域特征（通道 </a:t>
                      </a:r>
                      <a:r>
                        <a:rPr lang="en-US" altLang="zh-CN">
                          <a:effectLst/>
                        </a:rPr>
                        <a:t>× </a:t>
                      </a:r>
                      <a:r>
                        <a:rPr lang="zh-CN" altLang="en-US">
                          <a:effectLst/>
                        </a:rPr>
                        <a:t>时间 </a:t>
                      </a:r>
                      <a:r>
                        <a:rPr lang="en-US" altLang="zh-CN">
                          <a:effectLst/>
                        </a:rPr>
                        <a:t>× </a:t>
                      </a:r>
                      <a:r>
                        <a:rPr lang="zh-CN" altLang="en-US">
                          <a:effectLst/>
                        </a:rPr>
                        <a:t>频带）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做频带敏感的时序</a:t>
                      </a:r>
                      <a:r>
                        <a:rPr lang="en-US" altLang="zh-CN" dirty="0">
                          <a:effectLst/>
                        </a:rPr>
                        <a:t>/</a:t>
                      </a:r>
                      <a:r>
                        <a:rPr lang="zh-CN" altLang="en-US" dirty="0">
                          <a:effectLst/>
                        </a:rPr>
                        <a:t>卷积建模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70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EOG_Feature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从 </a:t>
                      </a:r>
                      <a:r>
                        <a:rPr lang="en-US" altLang="zh-CN">
                          <a:effectLst/>
                        </a:rPr>
                        <a:t>EOG / </a:t>
                      </a:r>
                      <a:r>
                        <a:rPr lang="zh-CN" altLang="en-US">
                          <a:effectLst/>
                        </a:rPr>
                        <a:t>眼动信号提取的特征序列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作为第二模态（眼动模态）输入，和 </a:t>
                      </a:r>
                      <a:r>
                        <a:rPr lang="en-US" altLang="zh-CN">
                          <a:effectLst/>
                        </a:rPr>
                        <a:t>EEG </a:t>
                      </a:r>
                      <a:r>
                        <a:rPr lang="zh-CN" altLang="en-US">
                          <a:effectLst/>
                        </a:rPr>
                        <a:t>融合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6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Forehead_EEG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前额 </a:t>
                      </a:r>
                      <a:r>
                        <a:rPr lang="en-US" altLang="zh-CN">
                          <a:effectLst/>
                        </a:rPr>
                        <a:t>EEG </a:t>
                      </a:r>
                      <a:r>
                        <a:rPr lang="zh-CN" altLang="en-US">
                          <a:effectLst/>
                        </a:rPr>
                        <a:t>的单独数据 </a:t>
                      </a:r>
                      <a:r>
                        <a:rPr lang="en-US" altLang="zh-CN">
                          <a:effectLst/>
                        </a:rPr>
                        <a:t>/ </a:t>
                      </a:r>
                      <a:r>
                        <a:rPr lang="zh-CN" altLang="en-US">
                          <a:effectLst/>
                        </a:rPr>
                        <a:t>特征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分析少通道前额设备的可行性，或作为额外子模态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67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91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9760FE5-B86C-4100-AB18-764034385C99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rgbClr val="2429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思路：</a:t>
            </a:r>
            <a:r>
              <a:rPr lang="zh-CN" altLang="en-US" b="1" i="0" dirty="0">
                <a:solidFill>
                  <a:srgbClr val="24292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模态缺失下的鲁棒性</a:t>
            </a:r>
            <a:endParaRPr lang="en-US" altLang="zh-CN" b="1" i="0" dirty="0">
              <a:solidFill>
                <a:srgbClr val="24292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EE728B-ED8E-4F4E-B0AD-E45F57C9E8E9}"/>
              </a:ext>
            </a:extLst>
          </p:cNvPr>
          <p:cNvSpPr txBox="1"/>
          <p:nvPr/>
        </p:nvSpPr>
        <p:spPr>
          <a:xfrm>
            <a:off x="164306" y="2690336"/>
            <a:ext cx="23598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参考 </a:t>
            </a:r>
            <a:r>
              <a:rPr lang="en-US" altLang="zh-CN" dirty="0" err="1"/>
              <a:t>NeurIPS</a:t>
            </a:r>
            <a:r>
              <a:rPr lang="en-US" altLang="zh-CN" dirty="0"/>
              <a:t> 2024 </a:t>
            </a:r>
            <a:r>
              <a:rPr lang="zh-CN" altLang="en-US" dirty="0"/>
              <a:t>在睡眠任务上的多模态缺失鲁棒性，可以试试在情绪 </a:t>
            </a:r>
            <a:r>
              <a:rPr lang="en-US" altLang="zh-CN" dirty="0"/>
              <a:t>/ </a:t>
            </a:r>
            <a:r>
              <a:rPr lang="zh-CN" altLang="en-US" dirty="0"/>
              <a:t>警觉任务上做一个对应的版本。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B762905-B233-43DE-8282-940CE6AAB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16" y="1718161"/>
            <a:ext cx="9099068" cy="342167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657EDA3-FAFC-4611-9542-0A4447306D2D}"/>
              </a:ext>
            </a:extLst>
          </p:cNvPr>
          <p:cNvSpPr txBox="1"/>
          <p:nvPr/>
        </p:nvSpPr>
        <p:spPr>
          <a:xfrm>
            <a:off x="2152650" y="961072"/>
            <a:ext cx="1003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Robust Sleep Staging over Incomplete Multimodal Physiological Signals via Contrastive Imagination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9736DE-3DC9-4AE8-9135-FA9B2E254480}"/>
              </a:ext>
            </a:extLst>
          </p:cNvPr>
          <p:cNvSpPr txBox="1"/>
          <p:nvPr/>
        </p:nvSpPr>
        <p:spPr>
          <a:xfrm>
            <a:off x="0" y="5657671"/>
            <a:ext cx="61198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其他：</a:t>
            </a:r>
            <a:r>
              <a:rPr lang="en-US" altLang="zh-CN" dirty="0"/>
              <a:t>EEG+</a:t>
            </a:r>
            <a:r>
              <a:rPr lang="zh-CN" altLang="en-US" dirty="0"/>
              <a:t>图像</a:t>
            </a:r>
            <a:r>
              <a:rPr lang="en-US" altLang="zh-CN" dirty="0"/>
              <a:t>/</a:t>
            </a:r>
            <a:r>
              <a:rPr lang="zh-CN" altLang="en-US" dirty="0"/>
              <a:t>视频</a:t>
            </a:r>
            <a:r>
              <a:rPr lang="en-US" altLang="zh-CN" dirty="0"/>
              <a:t>/</a:t>
            </a:r>
            <a:r>
              <a:rPr lang="zh-CN" altLang="en-US" dirty="0"/>
              <a:t>文本 的脑解码与跨模态对齐，通过对比学习或生成模型把脑信号映射到视觉</a:t>
            </a:r>
            <a:r>
              <a:rPr lang="en-US" altLang="zh-CN" dirty="0"/>
              <a:t>/</a:t>
            </a:r>
            <a:r>
              <a:rPr lang="zh-CN" altLang="en-US" dirty="0"/>
              <a:t>语义空间；</a:t>
            </a:r>
          </a:p>
          <a:p>
            <a:r>
              <a:rPr lang="zh-CN" altLang="en-US" dirty="0"/>
              <a:t>围绕这些任务的 数据增强、生成式建模、图结构和 </a:t>
            </a:r>
            <a:r>
              <a:rPr lang="en-US" altLang="zh-CN" dirty="0"/>
              <a:t>token </a:t>
            </a:r>
            <a:r>
              <a:rPr lang="zh-CN" altLang="en-US" dirty="0"/>
              <a:t>化建模。</a:t>
            </a:r>
          </a:p>
        </p:txBody>
      </p:sp>
    </p:spTree>
    <p:extLst>
      <p:ext uri="{BB962C8B-B14F-4D97-AF65-F5344CB8AC3E}">
        <p14:creationId xmlns:p14="http://schemas.microsoft.com/office/powerpoint/2010/main" val="235855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1687</Words>
  <Application>Microsoft Office PowerPoint</Application>
  <PresentationFormat>宽屏</PresentationFormat>
  <Paragraphs>191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艺博 袁</dc:creator>
  <cp:lastModifiedBy>艺博 袁</cp:lastModifiedBy>
  <cp:revision>28</cp:revision>
  <dcterms:created xsi:type="dcterms:W3CDTF">2025-12-04T02:58:14Z</dcterms:created>
  <dcterms:modified xsi:type="dcterms:W3CDTF">2025-12-05T07:50:00Z</dcterms:modified>
</cp:coreProperties>
</file>